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over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A28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267200" y="1459409"/>
            <a:ext cx="609600" cy="38100"/>
          </a:xfrm>
          <a:prstGeom prst="rect">
            <a:avLst/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74320" y="1751409"/>
            <a:ext cx="8595211" cy="599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70"/>
              </a:lnSpc>
              <a:spcAft>
                <a:spcPts val="1000"/>
              </a:spcAft>
              <a:buNone/>
            </a:pPr>
            <a:r>
              <a:rPr lang="en-US" sz="38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ALADIN B2B Mobile PWA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2515299" y="2433340"/>
            <a:ext cx="4113401" cy="356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spcAft>
                <a:spcPts val="2800"/>
              </a:spcAft>
              <a:buNone/>
            </a:pPr>
            <a:r>
              <a:rPr lang="en-US" sz="2000" dirty="0">
                <a:solidFill>
                  <a:srgbClr val="FFFFFF">
                    <a:alpha val="7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Complete Project Build Summary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267200" y="3119140"/>
            <a:ext cx="609600" cy="126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054788" y="3436590"/>
            <a:ext cx="5034275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8 Sprints  |  20 Database Models  |  40+ Mobile Pages  |  Full PWA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2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8534400" cy="42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Agenda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9600" y="954881"/>
            <a:ext cx="406301" cy="25301"/>
          </a:xfrm>
          <a:prstGeom prst="rect">
            <a:avLst/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8701" y="1234083"/>
            <a:ext cx="1803350" cy="3503116"/>
          </a:xfrm>
          <a:prstGeom prst="roundRect">
            <a:avLst>
              <a:gd name="adj" fmla="val 7042"/>
            </a:avLst>
          </a:prstGeom>
          <a:solidFill>
            <a:srgbClr val="2435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1101" y="1462683"/>
            <a:ext cx="2068000" cy="356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44D1E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11101" y="1894433"/>
            <a:ext cx="1768289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1101" y="2176314"/>
            <a:ext cx="1573478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Architecture, tech stack, key numbers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14451" y="1234083"/>
            <a:ext cx="1803350" cy="3503116"/>
          </a:xfrm>
          <a:prstGeom prst="roundRect">
            <a:avLst>
              <a:gd name="adj" fmla="val 7042"/>
            </a:avLst>
          </a:prstGeom>
          <a:solidFill>
            <a:srgbClr val="2435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666851" y="1462683"/>
            <a:ext cx="2068000" cy="356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44D1E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666851" y="1894433"/>
            <a:ext cx="1573478" cy="499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Sprint Breakdown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66851" y="2407444"/>
            <a:ext cx="1768289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M1-M8 feature details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70202" y="1234083"/>
            <a:ext cx="1803350" cy="3503116"/>
          </a:xfrm>
          <a:prstGeom prst="roundRect">
            <a:avLst>
              <a:gd name="adj" fmla="val 7042"/>
            </a:avLst>
          </a:prstGeom>
          <a:solidFill>
            <a:srgbClr val="2435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622602" y="1462683"/>
            <a:ext cx="2068000" cy="356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44D1E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22602" y="1894433"/>
            <a:ext cx="1858202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Database &amp; PWA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22602" y="2176314"/>
            <a:ext cx="1768289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20 models, offline, SW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25952" y="1234083"/>
            <a:ext cx="1803350" cy="3503116"/>
          </a:xfrm>
          <a:prstGeom prst="roundRect">
            <a:avLst>
              <a:gd name="adj" fmla="val 7042"/>
            </a:avLst>
          </a:prstGeom>
          <a:solidFill>
            <a:srgbClr val="2435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578352" y="1462683"/>
            <a:ext cx="2068000" cy="356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44D1E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578352" y="1894433"/>
            <a:ext cx="1948116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Summary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78352" y="2176314"/>
            <a:ext cx="1573478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Metrics, outcomes, next steps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2833874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939701"/>
            <a:ext cx="2438400" cy="1461641"/>
          </a:xfrm>
          <a:prstGeom prst="roundRect">
            <a:avLst>
              <a:gd name="adj" fmla="val 8689"/>
            </a:avLst>
          </a:prstGeom>
          <a:solidFill>
            <a:srgbClr val="2435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1531" y="1168301"/>
            <a:ext cx="2874538" cy="521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44D1E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8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37341" y="1727150"/>
            <a:ext cx="2582918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Sprint Cycles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9831" y="1991171"/>
            <a:ext cx="2457938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>
                    <a:alpha val="3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M1 through M8 completed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25701" y="939701"/>
            <a:ext cx="2438400" cy="1461641"/>
          </a:xfrm>
          <a:prstGeom prst="roundRect">
            <a:avLst>
              <a:gd name="adj" fmla="val 8689"/>
            </a:avLst>
          </a:prstGeom>
          <a:solidFill>
            <a:srgbClr val="2435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007632" y="1168301"/>
            <a:ext cx="2874538" cy="521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44D1E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20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215932" y="1727150"/>
            <a:ext cx="2457938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Database Models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15932" y="1991171"/>
            <a:ext cx="2457938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>
                    <a:alpha val="3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Prisma ORM with SQLite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41802" y="939701"/>
            <a:ext cx="2438400" cy="1461641"/>
          </a:xfrm>
          <a:prstGeom prst="roundRect">
            <a:avLst>
              <a:gd name="adj" fmla="val 8689"/>
            </a:avLst>
          </a:prstGeom>
          <a:solidFill>
            <a:srgbClr val="2435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623733" y="1168301"/>
            <a:ext cx="2874538" cy="521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44D1E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40+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5769543" y="1727150"/>
            <a:ext cx="2582918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Mobile Pages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32032" y="1991171"/>
            <a:ext cx="2457938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>
                    <a:alpha val="3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Under /m/ route prefix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9600" y="2579043"/>
            <a:ext cx="1777901" cy="968722"/>
          </a:xfrm>
          <a:prstGeom prst="roundRect">
            <a:avLst>
              <a:gd name="adj" fmla="val 10488"/>
            </a:avLst>
          </a:prstGeom>
          <a:solidFill>
            <a:srgbClr val="2435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17026" y="2756743"/>
            <a:ext cx="196304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EDCD8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180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16601" y="3188494"/>
            <a:ext cx="1763899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Seed Records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65202" y="2579043"/>
            <a:ext cx="1777901" cy="968722"/>
          </a:xfrm>
          <a:prstGeom prst="roundRect">
            <a:avLst>
              <a:gd name="adj" fmla="val 10488"/>
            </a:avLst>
          </a:prstGeom>
          <a:solidFill>
            <a:srgbClr val="2435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472627" y="2756743"/>
            <a:ext cx="196304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EDCD8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2572202" y="3188494"/>
            <a:ext cx="1763899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Zustand Stores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20803" y="2579043"/>
            <a:ext cx="1777901" cy="968722"/>
          </a:xfrm>
          <a:prstGeom prst="roundRect">
            <a:avLst>
              <a:gd name="adj" fmla="val 10488"/>
            </a:avLst>
          </a:prstGeom>
          <a:solidFill>
            <a:srgbClr val="2435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485129" y="2756743"/>
            <a:ext cx="184924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EDCD8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PWA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4570479" y="3188494"/>
            <a:ext cx="1678549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Install + Offline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76405" y="2579043"/>
            <a:ext cx="1777901" cy="968722"/>
          </a:xfrm>
          <a:prstGeom prst="roundRect">
            <a:avLst>
              <a:gd name="adj" fmla="val 10488"/>
            </a:avLst>
          </a:prstGeom>
          <a:solidFill>
            <a:srgbClr val="2435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440731" y="2756743"/>
            <a:ext cx="184924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EDCD8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JWT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483406" y="3188494"/>
            <a:ext cx="1763899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Auth System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9600" y="3700165"/>
            <a:ext cx="8534400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3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B2B wholesale e-commerce platform with Progressive Web App for mobile, built on Next.js App Router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4321039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Architecture &amp; Tech Stack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625501" y="1847999"/>
            <a:ext cx="2031950" cy="482501"/>
          </a:xfrm>
          <a:prstGeom prst="roundRect">
            <a:avLst>
              <a:gd name="adj" fmla="val 15793"/>
            </a:avLst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958429" y="2013049"/>
            <a:ext cx="16119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0D1525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Next.js App Router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44501" y="2406700"/>
            <a:ext cx="2793950" cy="482501"/>
          </a:xfrm>
          <a:prstGeom prst="roundRect">
            <a:avLst>
              <a:gd name="adj" fmla="val 15793"/>
            </a:avLst>
          </a:prstGeom>
          <a:solidFill>
            <a:srgbClr val="2A3F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625947" y="2571750"/>
            <a:ext cx="2396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TypeScript + Tailwind CSS 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3501" y="2965400"/>
            <a:ext cx="3555950" cy="482501"/>
          </a:xfrm>
          <a:prstGeom prst="roundRect">
            <a:avLst>
              <a:gd name="adj" fmla="val 15793"/>
            </a:avLst>
          </a:prstGeom>
          <a:solidFill>
            <a:srgbClr val="2435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432322" y="3130451"/>
            <a:ext cx="28534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FFF">
                    <a:alpha val="8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Prisma 6 ORM + SQLite Database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600" y="3524101"/>
            <a:ext cx="4063901" cy="482501"/>
          </a:xfrm>
          <a:prstGeom prst="roundRect">
            <a:avLst>
              <a:gd name="adj" fmla="val 15793"/>
            </a:avLst>
          </a:prstGeom>
          <a:solidFill>
            <a:srgbClr val="1E2D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58019" y="3689152"/>
            <a:ext cx="348360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Zustand State Management (auth, cart, app)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98852" y="1269206"/>
            <a:ext cx="0" cy="695771"/>
          </a:xfrm>
          <a:prstGeom prst="line">
            <a:avLst/>
          </a:prstGeom>
          <a:noFill/>
          <a:ln w="38100">
            <a:solidFill>
              <a:srgbClr val="44D1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70302" y="1269206"/>
            <a:ext cx="3786354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Frontend Layer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70302" y="1538436"/>
            <a:ext cx="3427303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React Server Components, mobile-first PWA under /m/ routes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98852" y="2142679"/>
            <a:ext cx="0" cy="695771"/>
          </a:xfrm>
          <a:prstGeom prst="line">
            <a:avLst/>
          </a:prstGeom>
          <a:noFill/>
          <a:ln w="38100">
            <a:solidFill>
              <a:srgbClr val="2A3F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70302" y="2142679"/>
            <a:ext cx="3873698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API Layer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70302" y="2411909"/>
            <a:ext cx="3427303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Next.js API routes, z-ai-web-dev-sdk for AI features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98852" y="3016151"/>
            <a:ext cx="0" cy="695771"/>
          </a:xfrm>
          <a:prstGeom prst="line">
            <a:avLst/>
          </a:prstGeom>
          <a:noFill/>
          <a:ln w="38100">
            <a:solidFill>
              <a:srgbClr val="2435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70302" y="3016151"/>
            <a:ext cx="3786354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70302" y="3285381"/>
            <a:ext cx="3427303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SQLite via Prisma 6.x, 20 models, 180 seed records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98852" y="3889623"/>
            <a:ext cx="0" cy="695771"/>
          </a:xfrm>
          <a:prstGeom prst="line">
            <a:avLst/>
          </a:prstGeom>
          <a:noFill/>
          <a:ln w="38100">
            <a:solidFill>
              <a:srgbClr val="1E2D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70302" y="3889623"/>
            <a:ext cx="3873698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PWA Layer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70302" y="4158853"/>
            <a:ext cx="3427303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Service Worker, offline fallback, install prompt, cache strategies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342900"/>
            <a:ext cx="2927949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Sprint M1 &amp; M2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58701" y="771525"/>
            <a:ext cx="457200" cy="25301"/>
          </a:xfrm>
          <a:prstGeom prst="rect">
            <a:avLst/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8701" y="847576"/>
            <a:ext cx="858529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FFFFF">
                    <a:alpha val="4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Foundation, Auth &amp; Product Catalog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58701" y="1171426"/>
            <a:ext cx="8026598" cy="959941"/>
          </a:xfrm>
          <a:prstGeom prst="roundRect">
            <a:avLst>
              <a:gd name="adj" fmla="val 1058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1376" y="133335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26740" y="1409551"/>
            <a:ext cx="2522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525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03127" y="1333351"/>
            <a:ext cx="1878928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Foundation &amp; Auth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03127" y="1561951"/>
            <a:ext cx="7189024" cy="40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Project scaffolding, Prisma ORM with 20 models, JWT auth (login, register, forgot password), Zustand stores, PWA manifest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8701" y="2232868"/>
            <a:ext cx="8026598" cy="746671"/>
          </a:xfrm>
          <a:prstGeom prst="roundRect">
            <a:avLst>
              <a:gd name="adj" fmla="val 1360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71376" y="239479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DCD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6740" y="2470993"/>
            <a:ext cx="2522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525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03127" y="2394793"/>
            <a:ext cx="1619366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Product Catalog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3127" y="2623393"/>
            <a:ext cx="7146637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Product listing (grid/list), detail pages, category browsing with filters, search, supplier info display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8701" y="3131790"/>
            <a:ext cx="8026598" cy="826591"/>
          </a:xfrm>
          <a:prstGeom prst="roundRect">
            <a:avLst>
              <a:gd name="adj" fmla="val 12291"/>
            </a:avLst>
          </a:prstGeom>
          <a:solidFill>
            <a:srgbClr val="44D1E4">
              <a:alpha val="8000"/>
            </a:srgbClr>
          </a:solidFill>
          <a:ln w="9525">
            <a:solidFill>
              <a:srgbClr val="44D1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71376" y="3268266"/>
            <a:ext cx="426146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44D1E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M1 Key Files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1376" y="3458766"/>
            <a:ext cx="3857357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FFFFF">
                    <a:alpha val="4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schema.prisma, auth.store.ts, cart.store.ts, layout.tsx, manifest.json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98950" y="3268266"/>
            <a:ext cx="426146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DCD8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M2 Key Files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98950" y="3458766"/>
            <a:ext cx="4041041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FFFFFF">
                    <a:alpha val="4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products/page.tsx, [id]/page.tsx, categories/, search/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793950" cy="5143500"/>
          </a:xfrm>
          <a:prstGeom prst="rect">
            <a:avLst/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616869"/>
            <a:ext cx="2186992" cy="88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spcBef>
                <a:spcPts val="2800"/>
              </a:spcBef>
              <a:spcAft>
                <a:spcPts val="2800"/>
              </a:spcAft>
              <a:buNone/>
            </a:pPr>
            <a:r>
              <a:rPr lang="en-US" sz="2800" dirty="0">
                <a:solidFill>
                  <a:srgbClr val="0D1525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Sprint M3</a:t>
            </a:r>
            <a:endParaRPr lang="en-US" sz="2800" dirty="0"/>
          </a:p>
          <a:p>
            <a:pPr algn="l" indent="0" marL="0">
              <a:lnSpc>
                <a:spcPts val="3220"/>
              </a:lnSpc>
              <a:spcBef>
                <a:spcPts val="2800"/>
              </a:spcBef>
              <a:spcAft>
                <a:spcPts val="2800"/>
              </a:spcAft>
              <a:buNone/>
            </a:pPr>
            <a:r>
              <a:rPr lang="en-US" sz="2800" dirty="0">
                <a:solidFill>
                  <a:srgbClr val="0D1525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&amp; M4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55550" y="2942481"/>
            <a:ext cx="355550" cy="25301"/>
          </a:xfrm>
          <a:prstGeom prst="rect">
            <a:avLst/>
          </a:prstGeom>
          <a:solidFill>
            <a:srgbClr val="0D1525">
              <a:alpha val="4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55550" y="3272582"/>
            <a:ext cx="2186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D1525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Shopping Cart, Checkout &amp; Order Management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251" y="1420862"/>
            <a:ext cx="50750" cy="457200"/>
          </a:xfrm>
          <a:prstGeom prst="roundRect">
            <a:avLst>
              <a:gd name="adj" fmla="val 50049"/>
            </a:avLst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377952" y="1395561"/>
            <a:ext cx="2072985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Shopping Cart (M3)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377952" y="1643211"/>
            <a:ext cx="5372078" cy="421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Add/remove/update cart items, quantity controls, real-time price calculations (subtotal, tax, discounts), cart persistence via Zustand + localStorage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251" y="2249537"/>
            <a:ext cx="50750" cy="457200"/>
          </a:xfrm>
          <a:prstGeom prst="roundRect">
            <a:avLst>
              <a:gd name="adj" fmla="val 50049"/>
            </a:avLst>
          </a:prstGeom>
          <a:solidFill>
            <a:srgbClr val="EDCD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77952" y="2224236"/>
            <a:ext cx="212303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Checkout Flow (M4)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77952" y="2471886"/>
            <a:ext cx="5230029" cy="421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Multi-step checkout, shipping address management, order placement with confirmation, order history listing and detail views with status tracking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251" y="3129111"/>
            <a:ext cx="1761083" cy="618827"/>
          </a:xfrm>
          <a:prstGeom prst="roundRect">
            <a:avLst>
              <a:gd name="adj" fmla="val 12314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110872" y="3230612"/>
            <a:ext cx="193984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4D1E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5+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09270" y="3494038"/>
            <a:ext cx="174304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FFFFFF">
                    <a:alpha val="4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Cart Pages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88285" y="3129111"/>
            <a:ext cx="1761232" cy="618827"/>
          </a:xfrm>
          <a:prstGeom prst="roundRect">
            <a:avLst>
              <a:gd name="adj" fmla="val 12314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98878" y="3230612"/>
            <a:ext cx="194004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CD8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4+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97286" y="3494038"/>
            <a:ext cx="17432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FFFFFF">
                    <a:alpha val="4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Order Pages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76467" y="3129111"/>
            <a:ext cx="1761232" cy="618827"/>
          </a:xfrm>
          <a:prstGeom prst="roundRect">
            <a:avLst>
              <a:gd name="adj" fmla="val 12314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887060" y="3230612"/>
            <a:ext cx="194004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517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3+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85468" y="3494038"/>
            <a:ext cx="17432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FFFFFF">
                    <a:alpha val="4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Checkout Steps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301"/>
            <a:ext cx="8534400" cy="42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Sprint M5 &amp; M6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9600" y="903982"/>
            <a:ext cx="457200" cy="25301"/>
          </a:xfrm>
          <a:prstGeom prst="rect">
            <a:avLst/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1005483"/>
            <a:ext cx="8534400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rgbClr val="FFFFFF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Supplier Portal &amp; Messaging System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9600" y="1408658"/>
            <a:ext cx="3759101" cy="2361754"/>
          </a:xfrm>
          <a:prstGeom prst="roundRect">
            <a:avLst>
              <a:gd name="adj" fmla="val 5377"/>
            </a:avLst>
          </a:prstGeom>
          <a:solidFill>
            <a:srgbClr val="2435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63501" y="166255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18865" y="1738759"/>
            <a:ext cx="2522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525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69802" y="1695896"/>
            <a:ext cx="170506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Supplier Portal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3501" y="2119759"/>
            <a:ext cx="3251299" cy="1480557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Supplier dashboard with analytics</a:t>
            </a:r>
            <a:endParaRPr lang="en-US" sz="1300" dirty="0"/>
          </a:p>
          <a:p>
            <a:pPr algn="l" marL="114300" indent="-1143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Product management (CRUD)</a:t>
            </a:r>
            <a:endParaRPr lang="en-US" sz="1300" dirty="0"/>
          </a:p>
          <a:p>
            <a:pPr algn="l" marL="114300" indent="-1143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Inventory tracking system</a:t>
            </a:r>
            <a:endParaRPr lang="en-US" sz="1300" dirty="0"/>
          </a:p>
          <a:p>
            <a:pPr algn="l" marL="114300" indent="-1143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Order fulfillment management</a:t>
            </a:r>
            <a:endParaRPr lang="en-US" sz="1300" dirty="0"/>
          </a:p>
          <a:p>
            <a:pPr algn="l" marL="114300" indent="-1143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Manufacturer info pages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1851" y="1408658"/>
            <a:ext cx="3759101" cy="2361754"/>
          </a:xfrm>
          <a:prstGeom prst="roundRect">
            <a:avLst>
              <a:gd name="adj" fmla="val 5377"/>
            </a:avLst>
          </a:prstGeom>
          <a:solidFill>
            <a:srgbClr val="2435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25752" y="166255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DCD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81116" y="1738759"/>
            <a:ext cx="2522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525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32053" y="1695896"/>
            <a:ext cx="299690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Messaging &amp; Notifications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25752" y="2119759"/>
            <a:ext cx="3251299" cy="1480557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In-app messaging and chat system</a:t>
            </a:r>
            <a:endParaRPr lang="en-US" sz="1300" dirty="0"/>
          </a:p>
          <a:p>
            <a:pPr algn="l" marL="114300" indent="-1143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Conversation and thread support</a:t>
            </a:r>
            <a:endParaRPr lang="en-US" sz="1300" dirty="0"/>
          </a:p>
          <a:p>
            <a:pPr algn="l" marL="114300" indent="-1143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Notification center with real-time updates</a:t>
            </a:r>
            <a:endParaRPr lang="en-US" sz="1300" dirty="0"/>
          </a:p>
          <a:p>
            <a:pPr algn="l" marL="114300" indent="-1143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Push notification preferences</a:t>
            </a:r>
            <a:endParaRPr lang="en-US" sz="1300" dirty="0"/>
          </a:p>
          <a:p>
            <a:pPr algn="l" marL="114300" indent="-1143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Message read/unread status tracking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E651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93650"/>
            <a:ext cx="3171021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Sprint M7 &amp; M8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9600" y="866626"/>
            <a:ext cx="457200" cy="25301"/>
          </a:xfrm>
          <a:prstGeom prst="rect">
            <a:avLst/>
          </a:prstGeom>
          <a:solidFill>
            <a:srgbClr val="E651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968127"/>
            <a:ext cx="8534400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rgbClr val="FFFFFF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Reports, Analytics, Settings &amp; PWA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9600" y="1345853"/>
            <a:ext cx="7924800" cy="1050727"/>
          </a:xfrm>
          <a:prstGeom prst="roundRect">
            <a:avLst>
              <a:gd name="adj" fmla="val 967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47725" y="1533079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E651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06810" y="1612404"/>
            <a:ext cx="275317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M7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30226" y="1533079"/>
            <a:ext cx="3364298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Reports &amp; Analytics Dashboard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30226" y="1780729"/>
            <a:ext cx="6991186" cy="421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Sales reports with data visualization, order analytics with charts, revenue tracking dashboards, and exportable data summaries for business intelligence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600" y="2523530"/>
            <a:ext cx="7924800" cy="1050727"/>
          </a:xfrm>
          <a:prstGeom prst="roundRect">
            <a:avLst>
              <a:gd name="adj" fmla="val 967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47725" y="2710755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06810" y="2790081"/>
            <a:ext cx="275317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525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M8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30226" y="2710755"/>
            <a:ext cx="321414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Settings, Profile &amp; PWA Install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30226" y="2958405"/>
            <a:ext cx="6938367" cy="421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Central settings hub, profile editing, password change with strength meter, VI/EN language toggle, notification preferences, storage management, PWA install prompt and offline fallback page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9600" y="3751957"/>
            <a:ext cx="3898850" cy="882551"/>
          </a:xfrm>
          <a:prstGeom prst="roundRect">
            <a:avLst>
              <a:gd name="adj" fmla="val 8634"/>
            </a:avLst>
          </a:prstGeom>
          <a:solidFill>
            <a:srgbClr val="E65174">
              <a:alpha val="12000"/>
            </a:srgbClr>
          </a:solidFill>
          <a:ln w="9525">
            <a:solidFill>
              <a:srgbClr val="E6517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96826" y="3888432"/>
            <a:ext cx="38768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6517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M8 Key Deliverables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96826" y="4078932"/>
            <a:ext cx="3700619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7 new pages, service worker (sw.js), offline fallback, useServiceWorker hook, PWA icons (192px + 512px)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35401" y="3751957"/>
            <a:ext cx="3898999" cy="882551"/>
          </a:xfrm>
          <a:prstGeom prst="roundRect">
            <a:avLst>
              <a:gd name="adj" fmla="val 8634"/>
            </a:avLst>
          </a:prstGeom>
          <a:solidFill>
            <a:srgbClr val="44D1E4">
              <a:alpha val="10000"/>
            </a:srgbClr>
          </a:solidFill>
          <a:ln w="9525">
            <a:solidFill>
              <a:srgbClr val="44D1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22627" y="3888432"/>
            <a:ext cx="38770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44D1E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PWA Capabilities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22627" y="4078932"/>
            <a:ext cx="3700775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Cache-first for static assets, network-first for APIs, install prompt detection, offline graceful degradation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6482395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Database Schema — 20 Prisma Models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711101"/>
            <a:ext cx="7924800" cy="451991"/>
          </a:xfrm>
          <a:prstGeom prst="roundRect">
            <a:avLst>
              <a:gd name="adj" fmla="val 22478"/>
            </a:avLst>
          </a:prstGeom>
          <a:solidFill>
            <a:srgbClr val="2435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87301" y="838051"/>
            <a:ext cx="2641536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4D1E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Category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19251" y="838051"/>
            <a:ext cx="6324749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Models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1163092"/>
            <a:ext cx="7924800" cy="401092"/>
          </a:xfrm>
          <a:prstGeom prst="rect">
            <a:avLst/>
          </a:prstGeom>
          <a:solidFill>
            <a:srgbClr val="1E2D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8529637" y="1163092"/>
            <a:ext cx="0" cy="401092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4363" y="1163092"/>
            <a:ext cx="0" cy="401092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6826" y="1264593"/>
            <a:ext cx="2519618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4D1E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Core Commerce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28776" y="1264593"/>
            <a:ext cx="5979051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User, Product, Category, Order, OrderItem, Cart, CartItem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600" y="1564184"/>
            <a:ext cx="7924800" cy="401092"/>
          </a:xfrm>
          <a:prstGeom prst="rect">
            <a:avLst/>
          </a:prstGeom>
          <a:solidFill>
            <a:srgbClr val="1622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8529637" y="1564184"/>
            <a:ext cx="0" cy="401092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4363" y="1564184"/>
            <a:ext cx="0" cy="401092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6826" y="1665684"/>
            <a:ext cx="2519618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DCD8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Supply Chain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28776" y="1665684"/>
            <a:ext cx="5979051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Supplier, Manufacturer, Inventory, ShippingRate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9600" y="1965275"/>
            <a:ext cx="7924800" cy="401092"/>
          </a:xfrm>
          <a:prstGeom prst="rect">
            <a:avLst/>
          </a:prstGeom>
          <a:solidFill>
            <a:srgbClr val="1E2D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8529637" y="1965275"/>
            <a:ext cx="0" cy="401092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4363" y="1965275"/>
            <a:ext cx="0" cy="401092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6826" y="2066776"/>
            <a:ext cx="2519618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517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Communication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28776" y="2066776"/>
            <a:ext cx="5979051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Message, Conversation, Notification, Review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9600" y="2366367"/>
            <a:ext cx="7924800" cy="401092"/>
          </a:xfrm>
          <a:prstGeom prst="rect">
            <a:avLst/>
          </a:prstGeom>
          <a:solidFill>
            <a:srgbClr val="1622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8529637" y="2366367"/>
            <a:ext cx="0" cy="401092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4363" y="2366367"/>
            <a:ext cx="0" cy="401092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6826" y="2467868"/>
            <a:ext cx="2519618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User Features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828776" y="2467868"/>
            <a:ext cx="5979051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Address, Wishlist, Coupon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9600" y="2767459"/>
            <a:ext cx="7924800" cy="401092"/>
          </a:xfrm>
          <a:prstGeom prst="rect">
            <a:avLst/>
          </a:prstGeom>
          <a:solidFill>
            <a:srgbClr val="1E2D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8529637" y="2767459"/>
            <a:ext cx="0" cy="401092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4363" y="2767459"/>
            <a:ext cx="0" cy="401092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6826" y="2868960"/>
            <a:ext cx="2641536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Financial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828776" y="2868960"/>
            <a:ext cx="6305181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Transaction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09600" y="3168551"/>
            <a:ext cx="7924800" cy="401092"/>
          </a:xfrm>
          <a:prstGeom prst="rect">
            <a:avLst/>
          </a:prstGeom>
          <a:solidFill>
            <a:srgbClr val="1622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8529637" y="3168551"/>
            <a:ext cx="0" cy="401092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4363" y="3168551"/>
            <a:ext cx="0" cy="401092"/>
          </a:xfrm>
          <a:prstGeom prst="line">
            <a:avLst/>
          </a:prstGeom>
          <a:noFill/>
          <a:ln w="9525">
            <a:solidFill>
              <a:srgbClr val="2A3F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6826" y="3270052"/>
            <a:ext cx="2641536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System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828776" y="3270052"/>
            <a:ext cx="6315224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AuditLog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09600" y="3569643"/>
            <a:ext cx="7924800" cy="451991"/>
          </a:xfrm>
          <a:prstGeom prst="rect">
            <a:avLst/>
          </a:prstGeom>
          <a:solidFill>
            <a:srgbClr val="2435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87301" y="3696593"/>
            <a:ext cx="2641536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4D1E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Total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819251" y="3696593"/>
            <a:ext cx="5979051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20 Models  |  180 Seed Records  |  SQLite via Prisma 6.x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93650"/>
            <a:ext cx="3675772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PWA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9600" y="866626"/>
            <a:ext cx="457200" cy="25301"/>
          </a:xfrm>
          <a:prstGeom prst="rect">
            <a:avLst/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968127"/>
            <a:ext cx="8534400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rgbClr val="FFFFFF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Offline-First Progressive Web App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9600" y="1371302"/>
            <a:ext cx="2523083" cy="2393900"/>
          </a:xfrm>
          <a:prstGeom prst="roundRect">
            <a:avLst>
              <a:gd name="adj" fmla="val 530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47725" y="1609427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44D1E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12614" y="1718965"/>
            <a:ext cx="42545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4D1E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7725" y="2193578"/>
            <a:ext cx="2538073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Service Worker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7725" y="2479328"/>
            <a:ext cx="2149175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FFFF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Smart caching strategies: cache-first for static assets, network-first for API routes. Automatic update detection and user prompt.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10384" y="1371302"/>
            <a:ext cx="2523232" cy="2393900"/>
          </a:xfrm>
          <a:prstGeom prst="roundRect">
            <a:avLst>
              <a:gd name="adj" fmla="val 530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48509" y="1609427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EDCD82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636020" y="1718965"/>
            <a:ext cx="36683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DCD8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OF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48509" y="2193578"/>
            <a:ext cx="241543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Offline Fallback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48509" y="2479328"/>
            <a:ext cx="2149331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FFFF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Graceful offline experience with dedicated fallback page, retry mechanism, and cached content display when network is unavailable.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11317" y="1371302"/>
            <a:ext cx="2523083" cy="2393900"/>
          </a:xfrm>
          <a:prstGeom prst="roundRect">
            <a:avLst>
              <a:gd name="adj" fmla="val 530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49442" y="1609427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E6517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376392" y="1718965"/>
            <a:ext cx="26428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517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49442" y="2193578"/>
            <a:ext cx="2538073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Install Prompt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49442" y="2479328"/>
            <a:ext cx="2149175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FFFF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Native install banner detection, beforeinstallprompt handling, install status tracking, and app-like experience on mobile devices.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9600" y="3917603"/>
            <a:ext cx="7924800" cy="958751"/>
          </a:xfrm>
          <a:prstGeom prst="roundRect">
            <a:avLst>
              <a:gd name="adj" fmla="val 7948"/>
            </a:avLst>
          </a:prstGeom>
          <a:solidFill>
            <a:srgbClr val="44D1E4">
              <a:alpha val="8000"/>
            </a:srgbClr>
          </a:solidFill>
          <a:ln w="9525">
            <a:solidFill>
              <a:srgbClr val="44D1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275" y="4054078"/>
            <a:ext cx="787442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PWA Manifest with 192x192 and 512x512 icons, custom theme colors, standalone display mode, and short_name for home screen. The useServiceWorker React hook manages registration and update-available state.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99311" y="406301"/>
            <a:ext cx="3745379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File Structure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43400" y="860227"/>
            <a:ext cx="457200" cy="25301"/>
          </a:xfrm>
          <a:prstGeom prst="rect">
            <a:avLst/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1088678"/>
            <a:ext cx="2506266" cy="3658344"/>
          </a:xfrm>
          <a:prstGeom prst="roundRect">
            <a:avLst>
              <a:gd name="adj" fmla="val 506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22275" y="1301353"/>
            <a:ext cx="2455480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44D1E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src/app/(mobile)/m/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275" y="1628329"/>
            <a:ext cx="2184961" cy="3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FFFFF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offline/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FFFFF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settings/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FFFFF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settings/language/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FFFFF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settings/notifications/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FFFFF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settings/data/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FFFFF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profile/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FFFFF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profile/edit/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FFFFF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profile/password/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FFFFF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products/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FFFFF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cart/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FFFFF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checkout/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FFFFF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orders/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FFFFF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auth/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19016" y="1088678"/>
            <a:ext cx="2506117" cy="3658344"/>
          </a:xfrm>
          <a:prstGeom prst="roundRect">
            <a:avLst>
              <a:gd name="adj" fmla="val 506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531691" y="1301353"/>
            <a:ext cx="2455304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EDCD8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Core Directories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31691" y="1628329"/>
            <a:ext cx="2184804" cy="168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FFFFF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stores/ — Zustand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FFFFF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hooks/ — Custom Hooks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FFFFF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components/ — Shared UI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FFFFF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lib/ — Utilities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FFFFF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prisma/ — Schema + Seed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FFFFF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public/ — SW + Icons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FFFFF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public/icons/ — PWA assets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28283" y="1088678"/>
            <a:ext cx="2506117" cy="3658344"/>
          </a:xfrm>
          <a:prstGeom prst="roundRect">
            <a:avLst>
              <a:gd name="adj" fmla="val 506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40959" y="1301353"/>
            <a:ext cx="2455304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E6517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Key Config Files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40959" y="1628329"/>
            <a:ext cx="2184804" cy="1448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FFFFF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schema.prisma — 20 models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FFFFF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seed.ts — 180 records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FFFFF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sw.js — Service Worker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FFFFF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manifest.json — PWA config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FFFFF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.env — Database URL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FFFFF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tailwind.config.ts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93650"/>
            <a:ext cx="4861471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Key Metrics &amp; Outcomes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9600" y="866626"/>
            <a:ext cx="457200" cy="25301"/>
          </a:xfrm>
          <a:prstGeom prst="rect">
            <a:avLst/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6699" y="1145828"/>
            <a:ext cx="2438400" cy="2187476"/>
          </a:xfrm>
          <a:prstGeom prst="roundRect">
            <a:avLst>
              <a:gd name="adj" fmla="val 5806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1135" y="1891903"/>
            <a:ext cx="2889528" cy="565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spcBef>
                <a:spcPts val="3600"/>
              </a:spcBef>
              <a:spcAft>
                <a:spcPts val="3600"/>
              </a:spcAft>
              <a:buNone/>
            </a:pPr>
            <a:r>
              <a:rPr lang="en-US" sz="3600" b="1" dirty="0">
                <a:solidFill>
                  <a:srgbClr val="44D1E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76251" y="2872978"/>
            <a:ext cx="2559296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Build Errors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52800" y="1145828"/>
            <a:ext cx="2438400" cy="2187476"/>
          </a:xfrm>
          <a:prstGeom prst="roundRect">
            <a:avLst>
              <a:gd name="adj" fmla="val 5806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127236" y="1891903"/>
            <a:ext cx="2889528" cy="565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spcBef>
                <a:spcPts val="3600"/>
              </a:spcBef>
              <a:spcAft>
                <a:spcPts val="3600"/>
              </a:spcAft>
              <a:buNone/>
            </a:pPr>
            <a:r>
              <a:rPr lang="en-US" sz="3600" b="1" dirty="0">
                <a:solidFill>
                  <a:srgbClr val="EDCD8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100%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354270" y="2872978"/>
            <a:ext cx="243545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Sprint Completion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68901" y="1145828"/>
            <a:ext cx="2438400" cy="2187476"/>
          </a:xfrm>
          <a:prstGeom prst="roundRect">
            <a:avLst>
              <a:gd name="adj" fmla="val 5806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743337" y="1891903"/>
            <a:ext cx="2889528" cy="565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spcBef>
                <a:spcPts val="3600"/>
              </a:spcBef>
              <a:spcAft>
                <a:spcPts val="3600"/>
              </a:spcAft>
              <a:buNone/>
            </a:pPr>
            <a:r>
              <a:rPr lang="en-US" sz="3600" b="1" dirty="0">
                <a:solidFill>
                  <a:srgbClr val="E6517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PWA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970371" y="2872978"/>
            <a:ext cx="243545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App Store Grade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9600" y="3536454"/>
            <a:ext cx="3886200" cy="1253877"/>
          </a:xfrm>
          <a:prstGeom prst="roundRect">
            <a:avLst>
              <a:gd name="adj" fmla="val 8103"/>
            </a:avLst>
          </a:prstGeom>
          <a:solidFill>
            <a:srgbClr val="44D1E4">
              <a:alpha val="8000"/>
            </a:srgbClr>
          </a:solidFill>
          <a:ln w="9525">
            <a:solidFill>
              <a:srgbClr val="44D1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96826" y="3723680"/>
            <a:ext cx="3862923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44D1E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Development Outcome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96826" y="3974455"/>
            <a:ext cx="3687336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All 8 sprints completed with zero build errors. The application is production-ready for local deployment and testing.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48200" y="3536454"/>
            <a:ext cx="3886200" cy="1253877"/>
          </a:xfrm>
          <a:prstGeom prst="roundRect">
            <a:avLst>
              <a:gd name="adj" fmla="val 8103"/>
            </a:avLst>
          </a:prstGeom>
          <a:solidFill>
            <a:srgbClr val="EDCD82">
              <a:alpha val="8000"/>
            </a:srgbClr>
          </a:solidFill>
          <a:ln w="9525">
            <a:solidFill>
              <a:srgbClr val="EDCD8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35426" y="3723680"/>
            <a:ext cx="4073628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DCD8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35426" y="3974455"/>
            <a:ext cx="3687336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Fix seed data bug, deploy to staging, add unit tests, integrate payment gateway, and prepare for production launch.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08450" y="1219051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4320" y="1650802"/>
            <a:ext cx="8595211" cy="567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267200" y="2379613"/>
            <a:ext cx="609600" cy="25301"/>
          </a:xfrm>
          <a:prstGeom prst="rect">
            <a:avLst/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190784" y="2608064"/>
            <a:ext cx="2762283" cy="30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ALADIN B2B Mobile PWA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61357" y="2993975"/>
            <a:ext cx="3621286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>
                    <a:alpha val="4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8 Sprints  |  20 Models  |  40+ Pages  |  Full PWA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67200" y="3495377"/>
            <a:ext cx="609600" cy="1265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233233" y="3711178"/>
            <a:ext cx="4677385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1600"/>
              </a:spcBef>
              <a:buNone/>
            </a:pPr>
            <a:r>
              <a:rPr lang="en-US" sz="1200" dirty="0">
                <a:solidFill>
                  <a:srgbClr val="FFFFFF">
                    <a:alpha val="3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Built with Next.js  |  TypeScript  |  Tailwind CSS  |  Prisma  |  Zustand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ALADIN B2B Mobile PWA - Project Summary</dc:title>
  <dc:subject>PptxGenJS Presentation</dc:subject>
  <dc:creator>ALADIN Team</dc:creator>
  <cp:lastModifiedBy>ALADIN Team</cp:lastModifiedBy>
  <cp:revision>1</cp:revision>
  <dcterms:created xsi:type="dcterms:W3CDTF">2026-05-29T07:26:32Z</dcterms:created>
  <dcterms:modified xsi:type="dcterms:W3CDTF">2026-05-29T07:26:32Z</dcterms:modified>
</cp:coreProperties>
</file>